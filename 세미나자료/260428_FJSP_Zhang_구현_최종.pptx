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98" r:id="rId4"/>
    <p:sldId id="300" r:id="rId5"/>
    <p:sldId id="299" r:id="rId6"/>
    <p:sldId id="291" r:id="rId7"/>
    <p:sldId id="292" r:id="rId8"/>
    <p:sldId id="303" r:id="rId9"/>
    <p:sldId id="304" r:id="rId10"/>
    <p:sldId id="277" r:id="rId11"/>
    <p:sldId id="293" r:id="rId12"/>
    <p:sldId id="296" r:id="rId13"/>
    <p:sldId id="295" r:id="rId14"/>
    <p:sldId id="297" r:id="rId15"/>
    <p:sldId id="301" r:id="rId16"/>
    <p:sldId id="302" r:id="rId17"/>
    <p:sldId id="283" r:id="rId18"/>
  </p:sldIdLst>
  <p:sldSz cx="18288000" cy="10287000"/>
  <p:notesSz cx="6858000" cy="9144000"/>
  <p:embeddedFontLst>
    <p:embeddedFont>
      <p:font typeface="Pretendard SemiBold" panose="02000703000000020004" pitchFamily="50" charset="-127"/>
      <p:bold r:id="rId19"/>
    </p:embeddedFont>
    <p:embeddedFont>
      <p:font typeface="Playfair Display Heavy" panose="020B0600000101010101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380" y="5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214382" cy="10287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069691" y="4048125"/>
            <a:ext cx="11160909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Zhang(2011)</a:t>
            </a:r>
          </a:p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FJSP Genetic Algorithm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950" y="8117567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STUDENT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950" y="8784320"/>
            <a:ext cx="2903533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Minseo Kang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5945504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ADVISOR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" y="6612256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Jaeseok</a:t>
            </a: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Huh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13410"/>
            <a:ext cx="318568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2026.04.28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13101" y="613410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SDM Lab, </a:t>
            </a:r>
            <a:r>
              <a:rPr lang="en-US" sz="24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Soongsil</a:t>
            </a: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D9023-FF46-BCE1-4AF5-4899136F3958}"/>
              </a:ext>
            </a:extLst>
          </p:cNvPr>
          <p:cNvSpPr txBox="1"/>
          <p:nvPr/>
        </p:nvSpPr>
        <p:spPr>
          <a:xfrm>
            <a:off x="5069691" y="6360794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최종 결과보고</a:t>
            </a:r>
            <a:endParaRPr lang="en-US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A567D-8C4B-0F59-B6CF-B9B4B269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9746BD8-F4B7-AE1C-5CD8-30FBFE8457D7}"/>
              </a:ext>
            </a:extLst>
          </p:cNvPr>
          <p:cNvSpPr txBox="1"/>
          <p:nvPr/>
        </p:nvSpPr>
        <p:spPr>
          <a:xfrm>
            <a:off x="1123950" y="1222088"/>
            <a:ext cx="8934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Mid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와 같은 모호한 변수 네이밍 통일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및 </a:t>
            </a:r>
            <a:r>
              <a:rPr lang="ko-KR" altLang="en-US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직관성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향상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F7FAC9-90D1-8946-B4C9-FECC8F8A8E42}"/>
              </a:ext>
            </a:extLst>
          </p:cNvPr>
          <p:cNvSpPr txBox="1"/>
          <p:nvPr/>
        </p:nvSpPr>
        <p:spPr>
          <a:xfrm>
            <a:off x="1581627" y="1994503"/>
            <a:ext cx="15029973" cy="159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mid,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ptime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등 의미가 혼동될 수 있는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축약어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mid →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machine_id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ptime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→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processing_time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FB0CB22-AE42-38FB-662D-42E6B525D79F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2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BA6CBE0-608B-519D-713F-775908C7AC8E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DF3CC4D-E54B-E9BA-1C5E-60C3AF27D523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9A22D3A-4976-AFDB-BFA6-D129ABBDFE21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DA79D5-D022-90D2-2F23-A0892B63E23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C9D8AFBD-595F-0583-5F14-04ACCD7B4CB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9C93E4-1476-0A2B-8E9D-30AA9C7124C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ko-KR" altLang="en-US" sz="2400" spc="74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문제점 개선사항</a:t>
            </a:r>
            <a:endParaRPr lang="en-US" sz="2400" spc="74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844B846-5ED9-21AF-6491-C4666E01210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3ECB8-88DB-695D-D24C-748C9B562516}"/>
              </a:ext>
            </a:extLst>
          </p:cNvPr>
          <p:cNvSpPr txBox="1"/>
          <p:nvPr/>
        </p:nvSpPr>
        <p:spPr>
          <a:xfrm>
            <a:off x="1123950" y="4686300"/>
            <a:ext cx="7257573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인스턴스 읽을 때 </a:t>
            </a:r>
            <a:r>
              <a:rPr lang="en-US" altLang="ko-KR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idx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하드코딩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6A990-4D9F-A5BE-4EE2-B1D9A396A301}"/>
              </a:ext>
            </a:extLst>
          </p:cNvPr>
          <p:cNvSpPr txBox="1"/>
          <p:nvPr/>
        </p:nvSpPr>
        <p:spPr>
          <a:xfrm>
            <a:off x="1581627" y="5458715"/>
            <a:ext cx="16325373" cy="159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기존 구조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인스턴스에서 데이터를 읽어올 때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idx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= 0,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할당 후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idx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+= 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계속해서 반복하는 조잡한 구조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num_jobs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num_machines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average_machines_per_op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= int(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[0]), int(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[1]), float(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[2])                                  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형태로 리스트 인덱싱 활용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64E23F-1DE6-5D26-EF18-223634172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238" y="51387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7823CCD-D3C2-9372-BA5D-C49C06022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638" y="5291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67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809B5-52F9-5E1B-C01D-871C9BD2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F73F219-14FE-2A12-ADFE-8E227F8B0C5E}"/>
              </a:ext>
            </a:extLst>
          </p:cNvPr>
          <p:cNvSpPr txBox="1"/>
          <p:nvPr/>
        </p:nvSpPr>
        <p:spPr>
          <a:xfrm>
            <a:off x="1123950" y="1222088"/>
            <a:ext cx="12744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3. </a:t>
            </a:r>
            <a:r>
              <a:rPr lang="en-US" altLang="ko-KR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index_matrix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</a:t>
            </a:r>
            <a:r>
              <a:rPr lang="ko-KR" altLang="en-US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딕셔너리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폐기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..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C7749A-2270-EDA0-9ABB-8626DD4501CA}"/>
              </a:ext>
            </a:extLst>
          </p:cNvPr>
          <p:cNvSpPr txBox="1"/>
          <p:nvPr/>
        </p:nvSpPr>
        <p:spPr>
          <a:xfrm>
            <a:off x="1581627" y="1994503"/>
            <a:ext cx="16018827" cy="379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기존 구조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차원 배열인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에서 특정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특정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위치를 찾기 위해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decoder.py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가 실행될 때마다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key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로 갖는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index_matrix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딕셔너리를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생성함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model.py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클래스에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compute_offsets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함수를 추가하여 데이터를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파싱할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때 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배열에서 시작하는 인덱스를 미리 계산해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job_op_offsets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저장함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에서는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딕셔너리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생성 코드를 전면 삭제하고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flat_op_idx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=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instance.job_op_offsets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 +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op_id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라는 간단한 덧셈 연산 하나로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O(1)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속도로 위치를 찾도록 최적화했습니다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4235F8C-20E5-34EE-6540-0D3478D07F7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2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85305DA-072B-66ED-8FBC-39FC4E1888FB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819E68B-2730-F59D-1992-08C2CB704C8D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85C58C2-6B4F-9D2F-549F-B8718FBF6370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CC98D90-E60C-1020-CF40-B11DFA817493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B1AD1863-F78D-C7D7-D0C0-021760D368D9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5E23405-C038-142E-A22C-80228498F83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ko-KR" altLang="en-US" sz="2400" spc="74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문제점 개선사항</a:t>
            </a:r>
            <a:endParaRPr lang="en-US" sz="2400" spc="74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43F59BB-EBD3-63EC-0192-C10428F8C6B2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3096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D37DF-D24D-028A-63B1-896C7593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2F376B1-7753-C2A7-52EC-3B03FA9537E1}"/>
              </a:ext>
            </a:extLst>
          </p:cNvPr>
          <p:cNvSpPr txBox="1"/>
          <p:nvPr/>
        </p:nvSpPr>
        <p:spPr>
          <a:xfrm>
            <a:off x="1123950" y="1222088"/>
            <a:ext cx="12744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4. decoder.py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에서의 매번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.sort()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호출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7D57C74-6A50-4CA7-9917-1DADD7587979}"/>
              </a:ext>
            </a:extLst>
          </p:cNvPr>
          <p:cNvSpPr txBox="1"/>
          <p:nvPr/>
        </p:nvSpPr>
        <p:spPr>
          <a:xfrm>
            <a:off x="1581627" y="1994503"/>
            <a:ext cx="16018827" cy="4899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새로운 작업을 기계 스케줄에 추가할 때마다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machine_schedules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].sort(key=lambda x: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x.start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호출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문제점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삽입할 때마다 기계에 할당된 전체 작업을 재정렬하기 때문에 간단한 인스턴스도 매우 오랜 시간이 걸렸음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해결책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빈 공간을 찾았을 때 해당 인덱스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+ 1)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바로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.insert()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하고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못 찾았을 때는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.append()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만 하도록 변경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연산시간이 절반으로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줄음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기존에는 새로운 작업을 스케줄에 추가할 때마다 맨 뒤에 일단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.append()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한 뒤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machine_schedules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].sort(key=lambda x: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x.start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호출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36B3B01-DFBC-CF8E-CEAB-40FE38DAFD1E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2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B9C2B9C-203A-A333-9DB3-9145D4F49587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FB12357-D473-C05A-2E4B-2B8E229A0147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EF9A9A5-4341-191C-A44C-2D7E7D5C9432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E8B72CB-1C84-D00A-B822-E9DEB44EB54A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460D0D38-9A88-6836-36BB-2514EC583D49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4BDA1AA-B391-92A8-B5BD-89904FF025D3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ko-KR" altLang="en-US" sz="2400" spc="74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문제점 개선사항</a:t>
            </a:r>
            <a:endParaRPr lang="en-US" sz="2400" spc="74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F0F6151-6107-B15B-3480-261CBE69E14F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3508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DCF7D-776B-F80A-E2B1-AB82531C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2C132A4-2D8F-5271-F599-3F4BC55F44D6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2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B5B33CD-9A70-2574-0DFA-52CF1D6B305A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AB7CBB-97E6-9C43-D146-E2C64D2BA382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441331D-C4DC-6995-20AC-0086E5BE2D5C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E6EC349-FB0A-C1A7-7EF2-1572807E305E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1A2EECAC-B36B-F6A4-66E8-01A87FECB629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73F1936-B1DB-A645-6F8A-0AB1C5F9EE66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ko-KR" altLang="en-US" sz="2400" spc="74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문제점 개선사항</a:t>
            </a:r>
            <a:endParaRPr lang="en-US" sz="2400" spc="74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ED2FC3-F5C8-386E-0675-5E275D573F70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5B1F5-5691-1E06-1E87-1D1336115E93}"/>
              </a:ext>
            </a:extLst>
          </p:cNvPr>
          <p:cNvSpPr txBox="1"/>
          <p:nvPr/>
        </p:nvSpPr>
        <p:spPr>
          <a:xfrm>
            <a:off x="1123950" y="1333500"/>
            <a:ext cx="144208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MS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염색체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Machine ID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와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Index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설계 수정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2501E-ACA5-CF87-1BFC-8D116667DD3D}"/>
              </a:ext>
            </a:extLst>
          </p:cNvPr>
          <p:cNvSpPr txBox="1"/>
          <p:nvPr/>
        </p:nvSpPr>
        <p:spPr>
          <a:xfrm>
            <a:off x="1581627" y="2105915"/>
            <a:ext cx="15791973" cy="3245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기존 구조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MS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 안에 할당된 기계의 번호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직접 저장함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Zhang(2011)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구조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: MS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배열의 각 정수 값은 기계 번호가 아니라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해당 작업의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Alternative Machine Set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인덱스를 의미해야 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에서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alt_index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= MS[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flat_op_idx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통해 인덱스를 먼저 찾고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processing_time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=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operation.alternatives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[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alt_index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]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통해 실제 기계 번호를 매핑하도록 수정함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Ga.py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초기해 생성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(GS, LS)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시에도 실제 기계 번호가 아닌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best_alt_idx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배열에 저장하도록 변경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80034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9F99-DF5E-7EB9-5223-FF3B7324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4AD818-2ED5-AC9B-1503-9DAF6FCCFFDA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41C3D0-51E1-EDEE-A420-8CDA2A74CC56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054AF1-4E35-FB7A-8AA6-9ED9EBC0ACBD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284B600-F8EB-C80D-A48F-795E3982859F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2D1378C5-4369-1456-D869-25FD433CCC17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6853A95-5B73-2EAA-6420-42550775B516}"/>
              </a:ext>
            </a:extLst>
          </p:cNvPr>
          <p:cNvSpPr txBox="1"/>
          <p:nvPr/>
        </p:nvSpPr>
        <p:spPr>
          <a:xfrm>
            <a:off x="1142045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Framework of the effective GA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794A0BC-5D52-E224-E6C5-7DD9F472685C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6041299E-0F9F-FABF-4283-22CAC4A590F3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model.py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BBACC46-E2ED-290C-6BC2-B41629A76A9D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4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C0B30087-1B3D-E06A-A824-BC6DCFDAD319}"/>
              </a:ext>
            </a:extLst>
          </p:cNvPr>
          <p:cNvSpPr txBox="1"/>
          <p:nvPr/>
        </p:nvSpPr>
        <p:spPr>
          <a:xfrm>
            <a:off x="1581627" y="1994503"/>
            <a:ext cx="6266973" cy="488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설명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87A655-AF60-3B2B-CA04-655F58B0D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778" y="195285"/>
            <a:ext cx="9179522" cy="79711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0DA4DBB-2178-88FA-7AC8-233321FBF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618" y="8150899"/>
            <a:ext cx="5856156" cy="19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9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7E691-A0F2-699E-8393-C33D3DC4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B26B00-7616-7DC0-26B3-79BA9E0FB1B6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8E8978-8CB7-AC70-06C3-B81893E09C5F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7FE5716-3A58-763A-9E02-8EC3DCACAC49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FA9C1A9-7148-FB23-3329-2E44450237B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73B67002-893B-B675-0E4A-1DF762F6A8B8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07D65DA-B8E8-82D0-859F-00D10204701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Framework of the effective GA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7D5E36-3A70-3835-F6F4-4B3DDA7D87C0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2872A2B2-B410-B3ED-6E38-62A4FA43FAE8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io_mk.py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F5303D6F-4941-179D-30D5-FCFC42F68923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5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68EC3C0E-6949-44BA-58C5-837003AACC9B}"/>
              </a:ext>
            </a:extLst>
          </p:cNvPr>
          <p:cNvSpPr txBox="1"/>
          <p:nvPr/>
        </p:nvSpPr>
        <p:spPr>
          <a:xfrm>
            <a:off x="1581628" y="1994503"/>
            <a:ext cx="5912184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데이터셋은 기계 번호가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시작하지만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파이썬의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인덱스는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0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-1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해서 변환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데이터들을 최종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객체에 저장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B82FC6-282B-F204-A49B-D61D4625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990" y="179363"/>
            <a:ext cx="9361141" cy="984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2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E2C9-B2F7-B607-2689-75075FFE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2B7397-36A4-18B2-3535-C85C4D0E5A75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646A23-C6AD-8F19-3917-AC206812511B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EA2959D-3219-3412-2CD6-1513BF20C084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D04BBFB-8A39-0EAC-CFA1-E5160D9BA09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C26FCE4-718B-0FC7-589F-16AF52907804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F71A92-A152-039D-7BE3-DDE5C12A43AB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Framework of the effective GA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2974B96-4E4F-60F1-1B36-5B2C71223A3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7E5BF11D-C205-8208-46F3-D474A4DE2B13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Decoder.py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500D7F72-4AFA-92E1-66EF-5F9AF12363D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5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2A5B03FD-B0DB-08C9-3506-7813298B91AC}"/>
              </a:ext>
            </a:extLst>
          </p:cNvPr>
          <p:cNvSpPr txBox="1"/>
          <p:nvPr/>
        </p:nvSpPr>
        <p:spPr>
          <a:xfrm>
            <a:off x="1581628" y="1994503"/>
            <a:ext cx="5912184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데이터셋은 기계 번호가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시작하지만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파이썬의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인덱스는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0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-1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해서 변환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데이터들을 최종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객체에 저장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777C98-AC92-B38C-2366-E419EFE2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728" y="2281161"/>
            <a:ext cx="8373644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7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64E39-B288-FAAA-4641-35E6C25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E0D92A-B924-1DA7-B27E-EBBEB383F619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954F5B-9D95-95F4-5A92-A4A260B07E3E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751F3D1-F820-5BA6-4D23-F4943E9DB210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68B7239-230E-9709-D18A-A2B453A591C5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7B977333-C742-F33E-CA0C-B239F1291B35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527940-9B08-3A12-DF1F-19E504DF578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Framework of the effective GA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51C400-6062-396D-E62B-960686585882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91CA7200-3316-0144-EDEB-9D20F3B1BFDA}"/>
              </a:ext>
            </a:extLst>
          </p:cNvPr>
          <p:cNvSpPr txBox="1"/>
          <p:nvPr/>
        </p:nvSpPr>
        <p:spPr>
          <a:xfrm>
            <a:off x="1123950" y="1222088"/>
            <a:ext cx="536674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Decoder.py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1BC48B26-D76C-FA0B-AAF3-D9E0291E9A21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5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6E2F527-37CC-BF96-5C57-7F16ECCCBB43}"/>
              </a:ext>
            </a:extLst>
          </p:cNvPr>
          <p:cNvSpPr txBox="1"/>
          <p:nvPr/>
        </p:nvSpPr>
        <p:spPr>
          <a:xfrm>
            <a:off x="1581628" y="1994503"/>
            <a:ext cx="5912184" cy="2694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Mk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데이터셋은 기계 번호가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시작하지만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파이썬의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인덱스는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0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부터 시작하기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-1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해서 변환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데이터들을 최종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Instance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객체에 저장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304B4E0-802D-F201-149F-73A220762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728" y="2281161"/>
            <a:ext cx="8373644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4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A7944-26F1-E498-FCEC-ADDADCAB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B2224D-8D12-7500-FD46-A059819E77C5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AFBF84-BE09-C5D3-08DB-4DDF49CC7E1F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9F8FFB-DADA-4732-D8B0-2297746CF6D6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8F8013-D1DA-B274-D2B5-D8562E13D151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102031CA-EE77-2526-34CD-47454C36E39C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AF0292F-9808-0E8D-E6D8-6563E1BD2517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8EEF006-4558-22C5-4DC2-866307ADA88D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50B0D9CE-3A04-8C72-E402-FA29AF185618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MSOS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염색체 표현 방식 </a:t>
            </a:r>
            <a:r>
              <a:rPr lang="en-US" altLang="ko-KR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+ Insertion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을 통한 디코딩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3A7DC926-814B-D03E-CF37-A3F69F686B93}"/>
              </a:ext>
            </a:extLst>
          </p:cNvPr>
          <p:cNvSpPr txBox="1"/>
          <p:nvPr/>
        </p:nvSpPr>
        <p:spPr>
          <a:xfrm>
            <a:off x="1581627" y="1994503"/>
            <a:ext cx="5657373" cy="4899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 schedules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기계별로 배정된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정보를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Op_progress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job_ready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는 각각 현재까지 진행된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번호와 끝난 시간을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Index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matrix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생성해서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job_id,op_id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위치를 바로 찾을 수 있게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딕셔너리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형식으로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저장해둠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 </a:t>
            </a:r>
          </a:p>
          <a:p>
            <a:pPr algn="l">
              <a:lnSpc>
                <a:spcPts val="4320"/>
              </a:lnSpc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1A9AAF0C-1BF2-7CC5-CC40-D072E95E4E36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CF418C-E122-9AF6-D601-4BD47273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984" y="2019488"/>
            <a:ext cx="9717470" cy="644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4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798AC-F512-A7B6-7203-FA122810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F5F491-DEDD-2C9A-A84A-C71C9E672A0D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C27917-2814-E443-DB62-19DC4F95FB68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97B933C-7A85-8BE9-1944-4C33B00A80CA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38DC44-A936-FD2F-1283-B455C9BA067D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2673CFCA-DE3F-8BDC-FEB3-CDBE41C809E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7E4334-3D71-F6FA-398A-3343957FD36D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AD760B-713F-9727-C8F2-A418AC4E4B3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773AADF1-920F-2C9C-89EB-6945B560001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decode_calc.py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B3CAF1F-1E37-6AEA-DE04-E20B190CA1F6}"/>
              </a:ext>
            </a:extLst>
          </p:cNvPr>
          <p:cNvSpPr txBox="1"/>
          <p:nvPr/>
        </p:nvSpPr>
        <p:spPr>
          <a:xfrm>
            <a:off x="1581627" y="1994503"/>
            <a:ext cx="5657373" cy="159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배열에서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op_id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mid,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ptime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알아내고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직전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 끝난 시간과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machine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스케쥴을 가져와 세팅함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447ECEB-5C80-0098-6E40-20666CDB5F1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7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80F72F-6467-79FD-B5A4-7ED3C97B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08800"/>
            <a:ext cx="10221859" cy="58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40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B3031-38EB-6DC9-D05F-4723E0CF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8E2A64-013C-C9C6-E703-22B93EC86534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103A69-3D6C-302B-AF67-3AFB0569B9CD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DFFB589-8E15-9479-F7D0-C078EB282DE3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8C6FC8-A579-5537-6262-62615C0C5D29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DE1429BB-3F1D-3760-1415-744D9E2DC85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149C425-DB00-83F8-171B-ECC57BFF707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108A2E-0E26-362A-5D96-826D53CF5CAA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2F01F445-0499-77BD-AC07-CC3E73E115CB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2. decode_calc.py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함수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B6F15CC-6F13-1C4C-6A68-674B4BA2F62C}"/>
              </a:ext>
            </a:extLst>
          </p:cNvPr>
          <p:cNvSpPr txBox="1"/>
          <p:nvPr/>
        </p:nvSpPr>
        <p:spPr>
          <a:xfrm>
            <a:off x="1581627" y="1994503"/>
            <a:ext cx="5657373" cy="600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새로운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</a:t>
            </a:r>
            <a:r>
              <a:rPr lang="ko-KR" altLang="en-US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스케줄링할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때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첫 스케줄 앞의 빈 공간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작업과 작업 사이의 빈 공간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맨 뒤쪽 공간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순서대로 탐색함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Inserted=False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통해 진행 여부를 파악하고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,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r_j+ptime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의 시작시간을 비교하여 탐색함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기계 스케줄의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index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기준으로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for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문을 돌리기 때문에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Insert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한 후에는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start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시간 기준으로 다시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sorting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  <a:p>
            <a:pPr marL="342900" indent="-342900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166C57F-F6B7-65D2-1CA4-2B9BC364FA98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8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08368E-605B-3FE8-40D2-76BC1A843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587008"/>
            <a:ext cx="8429275" cy="923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61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33C80-C9CA-FBD7-7956-55A35CF1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A1D87C-1344-EFC2-DAA4-5DF37346F468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D11ADF-506A-71B0-AF97-ACE279790F95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4E8D376-2EB7-99FA-F7B7-C05F2076B427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C10CDC-1648-F256-301F-0FDCDD46FDAA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7BABCF00-3DC1-90CF-5C7E-30849F97EF15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81D1298-C675-52C8-2AFC-736C31201919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ko-KR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Decoder.py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1D74F90-7A11-0016-AD93-FBCB201D674E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0E551438-6915-5A1D-E9FB-60FED60A486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3. </a:t>
            </a:r>
            <a:r>
              <a:rPr lang="en-US" sz="30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makespan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 계산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8B066BAE-66A0-6E93-CD55-5299766F7838}"/>
              </a:ext>
            </a:extLst>
          </p:cNvPr>
          <p:cNvSpPr txBox="1"/>
          <p:nvPr/>
        </p:nvSpPr>
        <p:spPr>
          <a:xfrm>
            <a:off x="1581627" y="1994503"/>
            <a:ext cx="5657373" cy="2142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Schedule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입력하면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을 출력하는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함수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Schedule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내의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가장 큰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op.end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를 반환함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.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31A75682-36FD-E00F-B172-CBB71B3363E2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9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85BC0C-1221-0AA2-A9D6-24A3C411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686300"/>
            <a:ext cx="10480753" cy="21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29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22C1A-D23E-7892-6B24-5CD54B37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5823AE-98B5-6EFA-11E7-B86AEAE433D7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43F90F-1938-2DAB-ADD2-702CBAC0506B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73ED8C8-3CFF-7A01-CFBE-65CDBA1190AF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DDEB15-2A3B-2A96-F283-53539EF711AE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D464D96D-E22B-F4A7-2AAC-F729803BAF0E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1A872E-EB7A-BF88-D708-65F33F75B67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결과 출력 </a:t>
            </a:r>
            <a:endParaRPr lang="en-US" altLang="ko-KR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F1D334F-1B4E-450F-971E-6D2130DD2B18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189D1630-8BAA-8B18-350A-64E1CB6EA72C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결과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32AAE51-311E-BB67-237C-50EF48EC9FC2}"/>
              </a:ext>
            </a:extLst>
          </p:cNvPr>
          <p:cNvSpPr txBox="1"/>
          <p:nvPr/>
        </p:nvSpPr>
        <p:spPr>
          <a:xfrm>
            <a:off x="1581627" y="1994503"/>
            <a:ext cx="5047773" cy="379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랜덤하게 생성한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계산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잘 디코딩 되는지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이건 조금 더 검증 필요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남은 기간동안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GA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plotly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대한 코드 작업을 진행해서 결과를 도출할 예정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476324-9E08-60FF-FCD9-4F5D9A1B4BA7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10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A05260-5F90-16EB-51C7-1F1540F1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68" y="3133444"/>
            <a:ext cx="15508864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6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4F3BC-C20D-79E2-B4E5-926054F3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FBD55E-AA98-3DCD-D7B0-69EC574D79B8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1902AD-F77D-770B-7990-C472A3C13253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0117D40-97AA-DD4B-C906-01E204B2C3CB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4C60E1-428F-CF76-EADF-23A76DDC4041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4446FC3E-5AF6-7CCB-8338-F68BEA119E85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DE42E7-E358-ED08-0B08-564E63D81DDA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결과 출력 </a:t>
            </a:r>
            <a:endParaRPr lang="en-US" altLang="ko-KR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61B203-9F57-AFB3-FD40-F271D0910EE6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68615CC-6E90-13D5-DC62-3FA3640E766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결과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DE17A966-4186-F19D-6168-6533C387E75C}"/>
              </a:ext>
            </a:extLst>
          </p:cNvPr>
          <p:cNvSpPr txBox="1"/>
          <p:nvPr/>
        </p:nvSpPr>
        <p:spPr>
          <a:xfrm>
            <a:off x="1581627" y="1994503"/>
            <a:ext cx="5047773" cy="379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랜덤하게 생성한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계산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잘 디코딩 되는지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이건 조금 더 검증 필요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남은 기간동안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GA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plotly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대한 코드 작업을 진행해서 결과를 도출할 예정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07B86480-00EF-1045-9EE5-844770058245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10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277D6D-3C0A-2439-1EE6-6D655073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44" y="2021717"/>
            <a:ext cx="15727970" cy="75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5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1DBE5-10BF-AC5A-0B47-5CB440CC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7378CF-0B71-D26E-64D4-856D4537C4AB}"/>
              </a:ext>
            </a:extLst>
          </p:cNvPr>
          <p:cNvGrpSpPr/>
          <p:nvPr/>
        </p:nvGrpSpPr>
        <p:grpSpPr>
          <a:xfrm>
            <a:off x="0" y="0"/>
            <a:ext cx="847771" cy="859163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189B8C-237E-BE2C-7C62-27C8949FEF87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14E9BD4-7D33-1CE5-70AF-9274F7314DE3}"/>
              </a:ext>
            </a:extLst>
          </p:cNvPr>
          <p:cNvGrpSpPr/>
          <p:nvPr/>
        </p:nvGrpSpPr>
        <p:grpSpPr>
          <a:xfrm>
            <a:off x="0" y="859163"/>
            <a:ext cx="847771" cy="9427837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CD955EE-B343-274E-3E88-03528C9D8438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8032FD6B-647C-D844-D3F2-ED2F667521E4}"/>
              </a:ext>
            </a:extLst>
          </p:cNvPr>
          <p:cNvSpPr/>
          <p:nvPr/>
        </p:nvSpPr>
        <p:spPr>
          <a:xfrm rot="1790">
            <a:off x="-1" y="854400"/>
            <a:ext cx="18288002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DC9380-B352-C5D7-DBF0-6171322A7CC2}"/>
              </a:ext>
            </a:extLst>
          </p:cNvPr>
          <p:cNvSpPr txBox="1"/>
          <p:nvPr/>
        </p:nvSpPr>
        <p:spPr>
          <a:xfrm>
            <a:off x="1123950" y="233385"/>
            <a:ext cx="10592755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ko-KR" alt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결과 출력 </a:t>
            </a:r>
            <a:endParaRPr lang="en-US" altLang="ko-KR" sz="24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598DCB-25E7-0777-9AE5-88BAB2EF4494}"/>
              </a:ext>
            </a:extLst>
          </p:cNvPr>
          <p:cNvSpPr txBox="1"/>
          <p:nvPr/>
        </p:nvSpPr>
        <p:spPr>
          <a:xfrm>
            <a:off x="154759" y="233385"/>
            <a:ext cx="538253" cy="35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III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BA5690DB-DBF7-9251-64F3-7B1BF145E6C2}"/>
              </a:ext>
            </a:extLst>
          </p:cNvPr>
          <p:cNvSpPr txBox="1"/>
          <p:nvPr/>
        </p:nvSpPr>
        <p:spPr>
          <a:xfrm>
            <a:off x="1123950" y="1222088"/>
            <a:ext cx="9315450" cy="55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1. </a:t>
            </a:r>
            <a:r>
              <a:rPr lang="ko-KR" altLang="en-US" sz="30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layfair Display"/>
              </a:rPr>
              <a:t>결과</a:t>
            </a:r>
            <a:endParaRPr lang="en-US" sz="3000" dirty="0">
              <a:solidFill>
                <a:srgbClr val="003F9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layfair Display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71CE629-7388-87CA-88AA-90472D4267B4}"/>
              </a:ext>
            </a:extLst>
          </p:cNvPr>
          <p:cNvSpPr txBox="1"/>
          <p:nvPr/>
        </p:nvSpPr>
        <p:spPr>
          <a:xfrm>
            <a:off x="1581627" y="1994503"/>
            <a:ext cx="5047773" cy="379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랜덤하게 생성한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MSOS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makespan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계산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각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job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과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operation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대하여 잘 디코딩 되는지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(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이건 조금 더 검증 필요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)</a:t>
            </a:r>
          </a:p>
          <a:p>
            <a:pPr marL="342900" indent="-342900" algn="l">
              <a:lnSpc>
                <a:spcPts val="432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남은 기간동안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GA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와 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plotly</a:t>
            </a: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에 대한 코드 작업을 진행해서 결과를 도출할 예정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Raleway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1B03B8E-0622-69FE-7C90-3CD6ED605E45}"/>
              </a:ext>
            </a:extLst>
          </p:cNvPr>
          <p:cNvSpPr txBox="1"/>
          <p:nvPr/>
        </p:nvSpPr>
        <p:spPr>
          <a:xfrm>
            <a:off x="16918147" y="9134475"/>
            <a:ext cx="682307" cy="5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 b="1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 Bold"/>
              </a:rPr>
              <a:t>10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E8CEF1-F1CD-CE2B-1B03-104060D3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68" y="1890258"/>
            <a:ext cx="15508864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6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7FB0D-E469-2668-825A-26C54136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62EE16-BE06-A8B6-3271-358A68A0B4F6}"/>
              </a:ext>
            </a:extLst>
          </p:cNvPr>
          <p:cNvGrpSpPr/>
          <p:nvPr/>
        </p:nvGrpSpPr>
        <p:grpSpPr>
          <a:xfrm>
            <a:off x="0" y="0"/>
            <a:ext cx="4214382" cy="10287000"/>
            <a:chOff x="0" y="0"/>
            <a:chExt cx="1425606" cy="3479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AAD548-5E3A-92E1-5C14-B8AEF66AFE4E}"/>
                </a:ext>
              </a:extLst>
            </p:cNvPr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9F70690-7AFF-214D-13F6-1F084635AE9D}"/>
              </a:ext>
            </a:extLst>
          </p:cNvPr>
          <p:cNvSpPr txBox="1"/>
          <p:nvPr/>
        </p:nvSpPr>
        <p:spPr>
          <a:xfrm>
            <a:off x="1123950" y="8117567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STUDENT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3532FA-E655-0AEA-A9FC-92F0E77EDDCA}"/>
              </a:ext>
            </a:extLst>
          </p:cNvPr>
          <p:cNvSpPr txBox="1"/>
          <p:nvPr/>
        </p:nvSpPr>
        <p:spPr>
          <a:xfrm>
            <a:off x="1123950" y="8784320"/>
            <a:ext cx="2903533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Minseo Kang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C95A26-CF3B-991E-1CAA-7091441827BA}"/>
              </a:ext>
            </a:extLst>
          </p:cNvPr>
          <p:cNvSpPr txBox="1"/>
          <p:nvPr/>
        </p:nvSpPr>
        <p:spPr>
          <a:xfrm>
            <a:off x="1123950" y="5945504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ADVISOR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B85ABA0-2678-8ED2-1AA4-6FC61197CD29}"/>
              </a:ext>
            </a:extLst>
          </p:cNvPr>
          <p:cNvSpPr txBox="1"/>
          <p:nvPr/>
        </p:nvSpPr>
        <p:spPr>
          <a:xfrm>
            <a:off x="1123950" y="6612256"/>
            <a:ext cx="290353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Jaeseok</a:t>
            </a: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Huh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A71B43-2E04-AF02-DEFD-C6E10655FFB1}"/>
              </a:ext>
            </a:extLst>
          </p:cNvPr>
          <p:cNvSpPr txBox="1"/>
          <p:nvPr/>
        </p:nvSpPr>
        <p:spPr>
          <a:xfrm>
            <a:off x="1028700" y="613410"/>
            <a:ext cx="318568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5F7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2026.04.28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50851BE-F90E-C8E3-A88D-46534706AECB}"/>
              </a:ext>
            </a:extLst>
          </p:cNvPr>
          <p:cNvSpPr txBox="1"/>
          <p:nvPr/>
        </p:nvSpPr>
        <p:spPr>
          <a:xfrm>
            <a:off x="12013101" y="613410"/>
            <a:ext cx="524619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SDM Lab, </a:t>
            </a:r>
            <a:r>
              <a:rPr lang="en-US" sz="2400" dirty="0" err="1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Soongsil</a:t>
            </a:r>
            <a:r>
              <a:rPr lang="en-US" sz="2400" dirty="0">
                <a:solidFill>
                  <a:srgbClr val="003F9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Raleway"/>
              </a:rPr>
              <a:t> University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0C0729F-B096-C3FE-104B-9E085B3D5BCC}"/>
              </a:ext>
            </a:extLst>
          </p:cNvPr>
          <p:cNvSpPr txBox="1"/>
          <p:nvPr/>
        </p:nvSpPr>
        <p:spPr>
          <a:xfrm>
            <a:off x="5069691" y="4048125"/>
            <a:ext cx="12189609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Thank you for</a:t>
            </a:r>
          </a:p>
          <a:p>
            <a:pPr algn="l">
              <a:lnSpc>
                <a:spcPts val="8640"/>
              </a:lnSpc>
            </a:pPr>
            <a:r>
              <a:rPr lang="en-US" sz="7200" b="1" spc="223" dirty="0">
                <a:solidFill>
                  <a:srgbClr val="003F91"/>
                </a:solidFill>
                <a:latin typeface="Playfair Display Heavy"/>
                <a:ea typeface="Playfair Display Heavy"/>
                <a:cs typeface="Playfair Display Heavy"/>
                <a:sym typeface="Playfair Display Heavy"/>
              </a:rPr>
              <a:t>listening</a:t>
            </a:r>
          </a:p>
        </p:txBody>
      </p:sp>
    </p:spTree>
    <p:extLst>
      <p:ext uri="{BB962C8B-B14F-4D97-AF65-F5344CB8AC3E}">
        <p14:creationId xmlns:p14="http://schemas.microsoft.com/office/powerpoint/2010/main" val="386861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990</Words>
  <Application>Microsoft Office PowerPoint</Application>
  <PresentationFormat>사용자 지정</PresentationFormat>
  <Paragraphs>121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Calibri</vt:lpstr>
      <vt:lpstr>Playfair Display Heavy</vt:lpstr>
      <vt:lpstr>Arial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Blue Yellow Monotone Minimalist Illustration Thesis Proposal Final Defense Presentation Template</dc:title>
  <cp:lastModifiedBy>강민서</cp:lastModifiedBy>
  <cp:revision>15</cp:revision>
  <dcterms:created xsi:type="dcterms:W3CDTF">2006-08-16T00:00:00Z</dcterms:created>
  <dcterms:modified xsi:type="dcterms:W3CDTF">2026-04-27T05:08:51Z</dcterms:modified>
  <dc:identifier>DAHDuialC2s</dc:identifier>
</cp:coreProperties>
</file>